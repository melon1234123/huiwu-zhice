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e9ea38bed43fa" /><Relationship Type="http://schemas.openxmlformats.org/officeDocument/2006/relationships/extended-properties" Target="/docProps/app.xml" Id="R4343f12e97ee4ef5" /><Relationship Type="http://schemas.openxmlformats.org/officeDocument/2006/relationships/officeDocument" Target="/ppt/presentation.xml" Id="R30abff884d804d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86c3d0a47c4df4"/>
  </p:sldMasterIdLst>
  <p:notesMasterIdLst>
    <p:notesMasterId xmlns:r="http://schemas.openxmlformats.org/officeDocument/2006/relationships" r:id="R0e223de762554b42"/>
  </p:notesMasterIdLst>
  <p:sldIdLst>
    <p:sldId xmlns:r="http://schemas.openxmlformats.org/officeDocument/2006/relationships" id="256" r:id="R14a0ab80070648bc"/>
    <p:sldId xmlns:r="http://schemas.openxmlformats.org/officeDocument/2006/relationships" id="257" r:id="Rfdf5e9fc8f45457c"/>
    <p:sldId xmlns:r="http://schemas.openxmlformats.org/officeDocument/2006/relationships" id="258" r:id="R1a670105a4a54be5"/>
    <p:sldId xmlns:r="http://schemas.openxmlformats.org/officeDocument/2006/relationships" id="259" r:id="R3e7816ab27094b62"/>
    <p:sldId xmlns:r="http://schemas.openxmlformats.org/officeDocument/2006/relationships" id="260" r:id="Red3a19f68c4640cf"/>
    <p:sldId xmlns:r="http://schemas.openxmlformats.org/officeDocument/2006/relationships" id="261" r:id="R5526f6c8912b49c5"/>
    <p:sldId xmlns:r="http://schemas.openxmlformats.org/officeDocument/2006/relationships" id="262" r:id="Ref7d3308eec94d96"/>
    <p:sldId xmlns:r="http://schemas.openxmlformats.org/officeDocument/2006/relationships" id="263" r:id="Rdc5e46cb65234612"/>
    <p:sldId xmlns:r="http://schemas.openxmlformats.org/officeDocument/2006/relationships" id="264" r:id="Rd8badc89d6c14aeb"/>
    <p:sldId xmlns:r="http://schemas.openxmlformats.org/officeDocument/2006/relationships" id="265" r:id="Rac38a02efeb24885"/>
    <p:sldId xmlns:r="http://schemas.openxmlformats.org/officeDocument/2006/relationships" id="266" r:id="R7074ef12abab4bc8"/>
    <p:sldId xmlns:r="http://schemas.openxmlformats.org/officeDocument/2006/relationships" id="267" r:id="Re6de297cad6b48eb"/>
    <p:sldId xmlns:r="http://schemas.openxmlformats.org/officeDocument/2006/relationships" id="268" r:id="R20ec864fc3594bf8"/>
    <p:sldId xmlns:r="http://schemas.openxmlformats.org/officeDocument/2006/relationships" id="269" r:id="R02fff7073d434c5e"/>
    <p:sldId xmlns:r="http://schemas.openxmlformats.org/officeDocument/2006/relationships" id="270" r:id="R83aa85fdf19e43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657e93cc794231" /><Relationship Type="http://schemas.openxmlformats.org/officeDocument/2006/relationships/slideMaster" Target="/ppt/slideMasters/slideMaster1.xml" Id="R2d86c3d0a47c4df4" /><Relationship Type="http://schemas.openxmlformats.org/officeDocument/2006/relationships/notesMaster" Target="/ppt/notesMasters/notesMaster1.xml" Id="R0e223de762554b42" /><Relationship Type="http://schemas.openxmlformats.org/officeDocument/2006/relationships/presProps" Target="/ppt/presProps.xml" Id="Rf9ec03731cc64c1d" /><Relationship Type="http://schemas.openxmlformats.org/officeDocument/2006/relationships/tableStyles" Target="/ppt/tableStyles.xml" Id="Rd5b076503b004aa6" /><Relationship Type="http://schemas.openxmlformats.org/officeDocument/2006/relationships/slide" Target="/ppt/slides/slide1.xml" Id="R14a0ab80070648bc" /><Relationship Type="http://schemas.openxmlformats.org/officeDocument/2006/relationships/slide" Target="/ppt/slides/slide2.xml" Id="Rfdf5e9fc8f45457c" /><Relationship Type="http://schemas.openxmlformats.org/officeDocument/2006/relationships/slide" Target="/ppt/slides/slide3.xml" Id="R1a670105a4a54be5" /><Relationship Type="http://schemas.openxmlformats.org/officeDocument/2006/relationships/slide" Target="/ppt/slides/slide4.xml" Id="R3e7816ab27094b62" /><Relationship Type="http://schemas.openxmlformats.org/officeDocument/2006/relationships/slide" Target="/ppt/slides/slide5.xml" Id="Red3a19f68c4640cf" /><Relationship Type="http://schemas.openxmlformats.org/officeDocument/2006/relationships/slide" Target="/ppt/slides/slide6.xml" Id="R5526f6c8912b49c5" /><Relationship Type="http://schemas.openxmlformats.org/officeDocument/2006/relationships/slide" Target="/ppt/slides/slide7.xml" Id="Ref7d3308eec94d96" /><Relationship Type="http://schemas.openxmlformats.org/officeDocument/2006/relationships/slide" Target="/ppt/slides/slide8.xml" Id="Rdc5e46cb65234612" /><Relationship Type="http://schemas.openxmlformats.org/officeDocument/2006/relationships/slide" Target="/ppt/slides/slide9.xml" Id="Rd8badc89d6c14aeb" /><Relationship Type="http://schemas.openxmlformats.org/officeDocument/2006/relationships/slide" Target="/ppt/slides/slide10.xml" Id="Rac38a02efeb24885" /><Relationship Type="http://schemas.openxmlformats.org/officeDocument/2006/relationships/slide" Target="/ppt/slides/slide11.xml" Id="R7074ef12abab4bc8" /><Relationship Type="http://schemas.openxmlformats.org/officeDocument/2006/relationships/slide" Target="/ppt/slides/slide12.xml" Id="Re6de297cad6b48eb" /><Relationship Type="http://schemas.openxmlformats.org/officeDocument/2006/relationships/slide" Target="/ppt/slides/slide13.xml" Id="R20ec864fc3594bf8" /><Relationship Type="http://schemas.openxmlformats.org/officeDocument/2006/relationships/slide" Target="/ppt/slides/slide14.xml" Id="R02fff7073d434c5e" /><Relationship Type="http://schemas.openxmlformats.org/officeDocument/2006/relationships/slide" Target="/ppt/slides/slide15.xml" Id="R83aa85fdf19e43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43b3ce3ef344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41da9b6b948b0" /><Relationship Type="http://schemas.openxmlformats.org/officeDocument/2006/relationships/notesMaster" Target="/ppt/notesMasters/notesMaster1.xml" Id="R9100e5831f9042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3f2f4ff9934d6b" /><Relationship Type="http://schemas.openxmlformats.org/officeDocument/2006/relationships/notesMaster" Target="/ppt/notesMasters/notesMaster1.xml" Id="Rdaedcca2d027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50d3110f394954" /><Relationship Type="http://schemas.openxmlformats.org/officeDocument/2006/relationships/notesMaster" Target="/ppt/notesMasters/notesMaster1.xml" Id="R870644a0abd7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c07b138e304002" /><Relationship Type="http://schemas.openxmlformats.org/officeDocument/2006/relationships/notesMaster" Target="/ppt/notesMasters/notesMaster1.xml" Id="R7f3de48e570c44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83d1e7a6e4835" /><Relationship Type="http://schemas.openxmlformats.org/officeDocument/2006/relationships/notesMaster" Target="/ppt/notesMasters/notesMaster1.xml" Id="Ra0645240a076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bb81f466f4b48" /><Relationship Type="http://schemas.openxmlformats.org/officeDocument/2006/relationships/notesMaster" Target="/ppt/notesMasters/notesMaster1.xml" Id="R90b7de6e3aaa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628f51f1814741" /><Relationship Type="http://schemas.openxmlformats.org/officeDocument/2006/relationships/notesMaster" Target="/ppt/notesMasters/notesMaster1.xml" Id="R3dac8d8ccbd54e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b64b0e2f1241a7" /><Relationship Type="http://schemas.openxmlformats.org/officeDocument/2006/relationships/notesMaster" Target="/ppt/notesMasters/notesMaster1.xml" Id="Rfdf25e37518d4b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636d8c43fb45f7" /><Relationship Type="http://schemas.openxmlformats.org/officeDocument/2006/relationships/notesMaster" Target="/ppt/notesMasters/notesMaster1.xml" Id="R7ed20c448a2e47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6cf642a7844033" /><Relationship Type="http://schemas.openxmlformats.org/officeDocument/2006/relationships/notesMaster" Target="/ppt/notesMasters/notesMaster1.xml" Id="Rcc416d77e116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c9c3c480d64573" /><Relationship Type="http://schemas.openxmlformats.org/officeDocument/2006/relationships/notesMaster" Target="/ppt/notesMasters/notesMaster1.xml" Id="R35856a6f02294a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9916898f3d4a20" /><Relationship Type="http://schemas.openxmlformats.org/officeDocument/2006/relationships/notesMaster" Target="/ppt/notesMasters/notesMaster1.xml" Id="R0e17badc36104e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80811df28c42e5" /><Relationship Type="http://schemas.openxmlformats.org/officeDocument/2006/relationships/notesMaster" Target="/ppt/notesMasters/notesMaster1.xml" Id="R5e279281362748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b13b1539e541e2" /><Relationship Type="http://schemas.openxmlformats.org/officeDocument/2006/relationships/notesMaster" Target="/ppt/notesMasters/notesMaster1.xml" Id="R1e8cd0b860614a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4962657d124d93" /><Relationship Type="http://schemas.openxmlformats.org/officeDocument/2006/relationships/notesMaster" Target="/ppt/notesMasters/notesMaster1.xml" Id="Ra4ccc4a69c0d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会务智策面向校园社团与小型组织。项目把资料、生成和执行安排放在同一个工作台。封面插画由本轮内置imagegen工具生成，只作视觉表达，不表示真实活动或实际应用界面。组员信息与报告分工按要求留空。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首页舞台与案例图片为明确标注的AI概念素材，不是实际活动记录。工作台预览从API读取当前项目、任务与预算。开始筹备打开编辑窗口，保留现有资料。背景视频是概念图的缓慢运镜，减少动态使用静帧，导航有磨砂后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功能数量按可操作业务入口划分，不把同一按钮的状态变化重复计数。十一项功能共享项目资料。文件导出提供Markdown、JSON和CSV。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大模型负责理解与起草，金额与状态遵循应用规则。任何待确认的嘉宾、报名入口或审批仍由组织者补充。系统不会直接发布通知或替用户完成预约。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总览帮助组织者先了解当前活动，再进入资料与工作模块。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React使用可组合的组件构成界面。Vite build生成静态产物。SQLite无需独立数据库服务进程。当前Python HTTP服务定位本机课程原型，官方不建议直接用于生产，公开部署需增加认证并更换合适服务架构。技术来源：React https://react.dev/learn/describing-the-ui</a:t>
            </a:r>
          </a:p>
          <a:p xmlns:a="http://schemas.openxmlformats.org/drawingml/2006/main">
            <a:r>
              <a:t>Vite https://vite.dev/guide/build</a:t>
            </a:r>
          </a:p>
          <a:p xmlns:a="http://schemas.openxmlformats.org/drawingml/2006/main">
            <a:r>
              <a:t>Python SQLite https://docs.python.org/3/library/sqlite3.html</a:t>
            </a:r>
          </a:p>
          <a:p xmlns:a="http://schemas.openxmlformats.org/drawingml/2006/main">
            <a:r>
              <a:t>Python HTTP https://docs.python.org/3/library/http.server.html</a:t>
            </a:r>
          </a:p>
          <a:p xmlns:a="http://schemas.openxmlformats.org/drawingml/2006/main">
            <a:r>
              <a:t>DeepSeek兼容API https://api-docs.deepseek.com/zh-cn/</a:t>
            </a:r>
          </a:p>
          <a:p xmlns:a="http://schemas.openxmlformats.org/drawingml/2006/main">
            <a:r>
              <a:t>TokenDance协议索引 https://tokendance.space/llms.txt</a:t>
            </a:r>
          </a:p>
          <a:p xmlns:a="http://schemas.openxmlformats.org/drawingml/2006/main">
            <a:r>
              <a:t>模型ID仅指本轮服务配置，不据此推断模型参数、训练细节或其他官方同名模型能力。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问答按关键词等词面信号寻找相关资料，不使用向量库或嵌入模型。检索缺失时明确提示资料不足；有引用仍可能误读，时间边界失败例会在效果页展示。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首轮日程曾重复策划全文。修改模块指令并减少无关历史内容后，补跑转为聚焦日程表。这里只说明同一虚构活动的观察，不证明一般化效果。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支持新增、编辑、删除与状态变更。生成任务追加并按规范化标题去重，不覆盖已有负责人或状态。任务负责人使用职能角色，与课程成员分工无关。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初始算例是1900+190=2090，余额910。边界场景追加两项600元设备租赁，直接费用3100，12%预备金372，总3472，超472。截图后已恢复初始预算。这些都是教学计划值，不是真实报价或开支。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本轮配置服务模型ID为deepseek-v4.1-flash。ID只标记配置与实测服务，不能据此推断参数、训练信息或官方同名模型能力。规则模式提供本机演示路径，真实模型失败不会伪装成模型成功。技术来源：React https://react.dev/learn/describing-the-ui</a:t>
            </a:r>
          </a:p>
          <a:p xmlns:a="http://schemas.openxmlformats.org/drawingml/2006/main">
            <a:r>
              <a:t>Vite https://vite.dev/guide/build</a:t>
            </a:r>
          </a:p>
          <a:p xmlns:a="http://schemas.openxmlformats.org/drawingml/2006/main">
            <a:r>
              <a:t>Python SQLite https://docs.python.org/3/library/sqlite3.html</a:t>
            </a:r>
          </a:p>
          <a:p xmlns:a="http://schemas.openxmlformats.org/drawingml/2006/main">
            <a:r>
              <a:t>Python HTTP https://docs.python.org/3/library/http.server.html</a:t>
            </a:r>
          </a:p>
          <a:p xmlns:a="http://schemas.openxmlformats.org/drawingml/2006/main">
            <a:r>
              <a:t>DeepSeek兼容API https://api-docs.deepseek.com/zh-cn/</a:t>
            </a:r>
          </a:p>
          <a:p xmlns:a="http://schemas.openxmlformats.org/drawingml/2006/main">
            <a:r>
              <a:t>TokenDance协议索引 https://tokendance.space/llms.txt</a:t>
            </a:r>
          </a:p>
          <a:p xmlns:a="http://schemas.openxmlformats.org/drawingml/2006/main">
            <a:r>
              <a:t>模型ID仅指本轮服务配置，不据此推断模型参数、训练细节或其他官方同名模型能力。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本页界面为本轮应用在本机实际运行的截图，活动、资料与角色均为虚构教学样例。 修订后的审阅发现跨草案时间差，也出现过度审查。意见需要人工分级，不能直接等同于审批结论。导出读取已保存状态，不包含服务端模型配置。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后端范围含受控模型传输，不包含真实模型内容质量。浏览器数量来自本轮记录。测试只覆盖已执行输入，尚未开展生产负载或完整安全评估。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记录含11次实际模型请求，其中包括日程与审阅修订后的两次补跑，另有1次本地guard。HTTP成功只说明接口完成。时间问答把13:30签到和17:20清场误作允许进入与最晚离场边界，原文开放区间其实为13:00至18:00。提示修订只在同一活动复查，没有多场景盲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当前交付是可运行课程原型。应用潜力来自场景和完整操作过程，尚无真实客户、收益或提效结论。下一步先开展真实组织试用，补充账户角色、备份和生产服务能力。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47efd449548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c4caa19f34f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ecf27a43a4f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97094271340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47c006ec94e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9539b9d654d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AE0C0-0192-476C-998B-3E4F83452E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8B44C8-5E76-4880-AC3B-22EAD9C386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239E2F-C2AA-4B53-8F89-80297F15E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CFD95C-A17F-4678-9969-78A4907F2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543BE7-E6A3-4727-AE1F-9A38545BB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EC5A4B-C6F1-4338-933A-AF025B8D01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0AD28E-51B0-4A3B-B223-8A4581623C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F70573-904A-44A9-AF9D-A50DE2E86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D41B14-438F-4374-AE9B-66CBEA711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495D11-C224-491C-B34A-4560ADE411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f136f9ce44709" /><Relationship Type="http://schemas.openxmlformats.org/officeDocument/2006/relationships/slideLayout" Target="/ppt/slideLayouts/slideLayout1.xml" Id="R57fd872845c94f07" /><Relationship Type="http://schemas.openxmlformats.org/officeDocument/2006/relationships/slideLayout" Target="/ppt/slideLayouts/slideLayout2.xml" Id="R5fca1cedc5bc451c" /><Relationship Type="http://schemas.openxmlformats.org/officeDocument/2006/relationships/slideLayout" Target="/ppt/slideLayouts/slideLayout3.xml" Id="Ra4703b147f1343dc" /><Relationship Type="http://schemas.openxmlformats.org/officeDocument/2006/relationships/slideLayout" Target="/ppt/slideLayouts/slideLayout4.xml" Id="R82d01c3034e24975" /><Relationship Type="http://schemas.openxmlformats.org/officeDocument/2006/relationships/slideLayout" Target="/ppt/slideLayouts/slideLayout5.xml" Id="R9e07c013f993495f" /><Relationship Type="http://schemas.openxmlformats.org/officeDocument/2006/relationships/slideLayout" Target="/ppt/slideLayouts/slideLayout6.xml" Id="R2a5dbc98d53449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fd872845c94f07"/>
    <p:sldLayoutId xmlns:r="http://schemas.openxmlformats.org/officeDocument/2006/relationships" id="2147483650" r:id="R5fca1cedc5bc451c"/>
    <p:sldLayoutId xmlns:r="http://schemas.openxmlformats.org/officeDocument/2006/relationships" id="2147483651" r:id="Ra4703b147f1343dc"/>
    <p:sldLayoutId xmlns:r="http://schemas.openxmlformats.org/officeDocument/2006/relationships" id="2147483652" r:id="R82d01c3034e24975"/>
    <p:sldLayoutId xmlns:r="http://schemas.openxmlformats.org/officeDocument/2006/relationships" id="2147483653" r:id="R9e07c013f993495f"/>
    <p:sldLayoutId xmlns:r="http://schemas.openxmlformats.org/officeDocument/2006/relationships" id="2147483654" r:id="R2a5dbc98d53449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96a2d34ce438f" /><Relationship Type="http://schemas.openxmlformats.org/officeDocument/2006/relationships/image" Target="/ppt/media/image.jpeg" Id="Rb9a18435b4b44a95" /><Relationship Type="http://schemas.openxmlformats.org/officeDocument/2006/relationships/notesSlide" Target="/ppt/notesSlides/notesSlide1.xml" Id="Rb590835bd7b4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377aba6f24b0b" /><Relationship Type="http://schemas.openxmlformats.org/officeDocument/2006/relationships/image" Target="/ppt/media/image.png" Id="Re347cb5e67214c0f" /><Relationship Type="http://schemas.openxmlformats.org/officeDocument/2006/relationships/notesSlide" Target="/ppt/notesSlides/notesSlide2.xml" Id="R28ffa09212c842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8200de4ba4ae8" /><Relationship Type="http://schemas.openxmlformats.org/officeDocument/2006/relationships/notesSlide" Target="/ppt/notesSlides/notesSlide3.xml" Id="R47ea087adcac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e286bebdb4ec5" /><Relationship Type="http://schemas.openxmlformats.org/officeDocument/2006/relationships/notesSlide" Target="/ppt/notesSlides/notesSlide4.xml" Id="Rd1c1e476977f47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e37054ab24094" /><Relationship Type="http://schemas.openxmlformats.org/officeDocument/2006/relationships/image" Target="/ppt/media/image2.png" Id="Rdae98f4c79934d6d" /><Relationship Type="http://schemas.openxmlformats.org/officeDocument/2006/relationships/notesSlide" Target="/ppt/notesSlides/notesSlide5.xml" Id="R6e51ca79c5fa40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1b07a192e420a" /><Relationship Type="http://schemas.openxmlformats.org/officeDocument/2006/relationships/notesSlide" Target="/ppt/notesSlides/notesSlide6.xml" Id="R609898923d4f48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0ee85496a4689" /><Relationship Type="http://schemas.openxmlformats.org/officeDocument/2006/relationships/image" Target="/ppt/media/image3.png" Id="R62437e95498646b3" /><Relationship Type="http://schemas.openxmlformats.org/officeDocument/2006/relationships/notesSlide" Target="/ppt/notesSlides/notesSlide7.xml" Id="R43723269909947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46171b89a4ad5" /><Relationship Type="http://schemas.openxmlformats.org/officeDocument/2006/relationships/image" Target="/ppt/media/image4.png" Id="R41c0fc38131b43cd" /><Relationship Type="http://schemas.openxmlformats.org/officeDocument/2006/relationships/notesSlide" Target="/ppt/notesSlides/notesSlide8.xml" Id="R18077920c5af44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766cc4d1c41a2" /><Relationship Type="http://schemas.openxmlformats.org/officeDocument/2006/relationships/image" Target="/ppt/media/image5.png" Id="Rcda75dac972b4509" /><Relationship Type="http://schemas.openxmlformats.org/officeDocument/2006/relationships/notesSlide" Target="/ppt/notesSlides/notesSlide9.xml" Id="R2a7c586ba0ca4e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0bab942cb49b3" /><Relationship Type="http://schemas.openxmlformats.org/officeDocument/2006/relationships/image" Target="/ppt/media/image6.png" Id="R961a2193a7944c03" /><Relationship Type="http://schemas.openxmlformats.org/officeDocument/2006/relationships/notesSlide" Target="/ppt/notesSlides/notesSlide10.xml" Id="R89134e76321247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2211b43914199" /><Relationship Type="http://schemas.openxmlformats.org/officeDocument/2006/relationships/notesSlide" Target="/ppt/notesSlides/notesSlide11.xml" Id="R0028f240987144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152b3399c43e0" /><Relationship Type="http://schemas.openxmlformats.org/officeDocument/2006/relationships/image" Target="/ppt/media/image7.png" Id="Rafa0d92f9d324020" /><Relationship Type="http://schemas.openxmlformats.org/officeDocument/2006/relationships/notesSlide" Target="/ppt/notesSlides/notesSlide12.xml" Id="Rc0fc477f246546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9ae6844434dab" /><Relationship Type="http://schemas.openxmlformats.org/officeDocument/2006/relationships/notesSlide" Target="/ppt/notesSlides/notesSlide13.xml" Id="R1eacc2b824354c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d441d6f6c4403" /><Relationship Type="http://schemas.openxmlformats.org/officeDocument/2006/relationships/notesSlide" Target="/ppt/notesSlides/notesSlide14.xml" Id="R3b633b88980a4b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9bd9a902744a0" /><Relationship Type="http://schemas.openxmlformats.org/officeDocument/2006/relationships/notesSlide" Target="/ppt/notesSlides/notesSlide15.xml" Id="Re536a1bcc18344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C2FA1-96BA-450F-8CD6-4E620DC9D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18435b4b44a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68655-A318-4E90-9A16-A645D44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会务智策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0B791-9FE0-45AE-B4E9-81A9885A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BBD9F3"/>
                </a:solidFill>
                <a:latin typeface="PingFang SC"/>
                <a:ea typeface="PingFang SC"/>
                <a:cs typeface="PingFang SC"/>
              </a:rPr>
              <a:t>AI 活动运营工作台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2924A-EE3F-4F74-A03F-B8C801B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从资料整理到任务与预算</a:t>
            </a:r>
          </a:p>
          <a:p xmlns:a="http://schemas.openxmlformats.org/drawingml/2006/main">
            <a:pPr>
              <a:def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让活动筹备有依据、可继续执行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44093-D679-449A-AC29-F984933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通用生成式大模型技术原理 课程综合项目</a:t>
            </a:r>
          </a:p>
        </p:txBody>
      </p:sp>
    </p:spTree>
    <p:extLst>
      <p:ext uri="{BB962C8B-B14F-4D97-AF65-F5344CB8AC3E}">
        <p14:creationId xmlns:p14="http://schemas.microsoft.com/office/powerpoint/2010/main" val="1658575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2489F-AB98-4A17-B565-9ED79C2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展示首页与业务工作台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36478-EFD4-4F9C-9C95-D1F99852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从了解产品，到继续实际筹备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0822E-26CD-41AC-A6A6-2D05892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E3A1E-FB54-43BD-AA55-46F2EB7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沉浸首屏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C8124-00E5-4A7F-A9CC-9B87A7C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背景运镜可以暂停。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94506-28A3-4BA6-8D3D-A9DCF0F8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真实入口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4C029-A41A-414A-8396-3E9CD0F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直接编辑当前活动。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87925-5A28-4E1D-BAA0-7E108BD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功能预览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224D3-789B-4D59-A4E0-1EA18AB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读取活动及预算。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3938F-87D4-4B5A-803F-45B789DFB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7cb5e67214c0f"/>
          <a:stretch xmlns:a="http://schemas.openxmlformats.org/drawingml/2006/main"/>
        </p:blipFill>
        <p:spPr>
          <a:xfrm xmlns:a="http://schemas.openxmlformats.org/drawingml/2006/main">
            <a:off x="3238500" y="1697236"/>
            <a:ext cx="8324850" cy="46827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38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70E1F-9C3C-441B-8BF8-B8A38E80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十一项业务功能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244BB-7D35-4224-AA8E-3627E36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各入口围绕同一个活动项目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BA75C-1FF1-4793-8F21-17A1025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40062-00EE-43F4-A52E-87A352FEC956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750570"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准备与生成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执行与交接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</a:tr>
              <a:tr h="75057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 活动信息  02 资料库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07 任务看板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75057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03 带出处资料问答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08 费用预算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  <a:tr h="75057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04 活动策划  05 日程编排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09 宣传文案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75057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06 风险预案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方案审阅  11 成果导出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D7A2F-7CBE-4BE1-9809-167CE1ED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00725"/>
            <a:ext cx="1092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rPr>
              <a:t>输入可以复用，输出仍需组织者核对。</a:t>
            </a:r>
          </a:p>
        </p:txBody>
      </p:sp>
    </p:spTree>
    <p:extLst>
      <p:ext uri="{BB962C8B-B14F-4D97-AF65-F5344CB8AC3E}">
        <p14:creationId xmlns:p14="http://schemas.microsoft.com/office/powerpoint/2010/main" val="480835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853B9-64E8-449A-9022-E119AA1C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使用路径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432C6-5CAC-4889-AE92-EA5B771D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把事实、草案与执行状态接在一起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2B990-76DB-4215-BD43-EC6FD6A6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62D3B-73C8-443E-AFFC-781C18E0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1 录入与核对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B2AD6-1E0B-4EB2-BBBA-F3EC4DB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设置活动，整理文本资料，确认约束。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86282-064C-4C12-ACC3-69284694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2 生成与修订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A04A2-DC47-443D-872A-A9EA542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查询资料，起草策划、日程、风险与宣传内容。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6EB26-A5CB-44E1-B684-770E9FF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3 落实与交接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3059C-E34E-4964-9B24-5DF4C4F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编辑任务、复算预算，审阅缺失信息后导出。</a:t>
            </a:r>
          </a:p>
        </p:txBody>
      </p:sp>
    </p:spTree>
    <p:extLst>
      <p:ext uri="{BB962C8B-B14F-4D97-AF65-F5344CB8AC3E}">
        <p14:creationId xmlns:p14="http://schemas.microsoft.com/office/powerpoint/2010/main" val="1047004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E900D-36C2-4790-BB55-819939CC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活动与资料工作区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B40BC-DF42-49A7-88DD-27B32D3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共同上下文从项目总览开始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44883-44A3-461F-A3AC-76FCEF0A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7ACEA-A8C5-4ABF-A5CF-24BAA96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活动约束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FF8EF-5735-4334-AC10-9EDB034D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日期、人数、预算与目标。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CBEA5-2A2D-4B86-8083-FDE05F8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筹备概览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EB2CD-E25C-416C-980F-7C0E8F4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进度、任务与费用同屏。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DC0BF-B85E-4D34-A9A5-A886274D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继续操作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CF300-D2B8-47CD-8E16-28672CC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从当前活动进入工作区。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D75B8-405B-460F-90E8-2BDD7D4AC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98f4c79934d6d"/>
          <a:stretch xmlns:a="http://schemas.openxmlformats.org/drawingml/2006/main"/>
        </p:blipFill>
        <p:spPr>
          <a:xfrm xmlns:a="http://schemas.openxmlformats.org/drawingml/2006/main">
            <a:off x="4286250" y="1714500"/>
            <a:ext cx="708660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90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528C0-D4C4-4526-81D7-881B1C0B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分层架构与技术选择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F828B-B325-4F93-A967-95557946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前端预先构建，运行时由 Python 提供同源服务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DE926-5D4D-491A-B7C4-CCF2219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31CBA-2E43-4464-95C9-0C40B749DAD5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48125"/>
                <a:gridCol w="5172075"/>
              </a:tblGrid>
              <a:tr h="687705"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</a:tr>
              <a:tr h="68770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React / TypeScript / Vite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组件、表单、结果与状态反馈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68770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 标准库 HTTP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校验、检索、计算与接口调度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  <a:tr h="68770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SQLite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保存同一活动的业务状态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68770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TokenDance 兼容接口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按任务组织消息并读取模型结果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60CB6-8C9C-46A4-A39C-3A01EEB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修改前端需要 Node.js 构建。已交付静态产物可直接由 Python 启动。</a:t>
            </a:r>
          </a:p>
        </p:txBody>
      </p:sp>
    </p:spTree>
    <p:extLst>
      <p:ext uri="{BB962C8B-B14F-4D97-AF65-F5344CB8AC3E}">
        <p14:creationId xmlns:p14="http://schemas.microsoft.com/office/powerpoint/2010/main" val="705197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59218-3BCE-46AC-B6C5-38B4961C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资料问答与原文核对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96660-99DE-44EC-874A-9D2C0C4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先做词面检索，再形成回答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06F15-E036-443F-9636-3620301B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EF211-B7B8-406E-8D57-D40DE405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回答有出处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1365B-B5B0-46BA-95AD-2952BFF8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资料编号与答案一起返回。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4230-A972-4740-B017-F969C345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原文可展开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467D6-8616-4F91-B81D-91753AD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核对摘录是否支持结论。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6C433-34C0-4C3B-99B2-F791E5E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缺失就说明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1768E-5A7D-4B6C-A2A9-5152C2A1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未知信息不补造链接。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4A0EE-4E95-413A-AC64-678F3CAA2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37e95498646b3"/>
          <a:stretch xmlns:a="http://schemas.openxmlformats.org/drawingml/2006/main"/>
        </p:blipFill>
        <p:spPr>
          <a:xfrm xmlns:a="http://schemas.openxmlformats.org/drawingml/2006/main">
            <a:off x="4962713" y="1752600"/>
            <a:ext cx="5733674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19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438D8-51C4-4321-AD71-3EEEA7E5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策划与日程工作区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34F09-3A5D-4504-A8E1-05D4C11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相同上下文，不同任务要求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D5BF6-80F3-4088-A1EC-FBCAA57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CF18A-DA3C-4411-8FE6-3738981BE7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0fc38131b43cd"/>
          <a:stretch xmlns:a="http://schemas.openxmlformats.org/drawingml/2006/main"/>
        </p:blipFill>
        <p:spPr>
          <a:xfrm xmlns:a="http://schemas.openxmlformats.org/drawingml/2006/main">
            <a:off x="5258738" y="1762125"/>
            <a:ext cx="5913148" cy="432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BB32-9747-43CC-A56A-00280162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策划草案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FA58F-8799-433D-8F59-E30B03D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组织目标、准备事项与流程。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DA7E4-750A-4F83-A2C1-D3B0059B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日程编排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3A93C-75D8-49B8-A540-64760BFA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明确时段、环节和缓冲。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7CA41-5860-48BD-97B2-E6750B98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风险预案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2E0C0-1028-4043-BD62-A5087637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保留触发条件与待确认项。</a:t>
            </a:r>
          </a:p>
        </p:txBody>
      </p:sp>
    </p:spTree>
    <p:extLst>
      <p:ext uri="{BB962C8B-B14F-4D97-AF65-F5344CB8AC3E}">
        <p14:creationId xmlns:p14="http://schemas.microsoft.com/office/powerpoint/2010/main" val="474283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40556-D047-4BA3-9C17-0EADC707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任务执行看板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F3874-FF9B-4278-9FD2-BC45828D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编辑任务并保留原有进度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4FDC7-611B-4FEC-B61A-BF37AC2D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1970A-FDD1-45F2-BE43-6C3DF855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手工增改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58F64-E39C-490E-AE68-8B6C8A02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标题、负责人和日期可编辑。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096C3-4498-4928-AC81-01B66CD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状态明确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1B7D2-7CF5-45A7-A944-580117F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待办、进行中与已完成。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C163E-DA56-4EAE-A52E-88571451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生成去重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0624E-04C8-4D88-936E-8C3D3C0A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319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追加新任务，保留原进度。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BFCC6-7069-40B3-8826-78ACD04A9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75dac972b4509"/>
          <a:stretch xmlns:a="http://schemas.openxmlformats.org/drawingml/2006/main"/>
        </p:blipFill>
        <p:spPr>
          <a:xfrm xmlns:a="http://schemas.openxmlformats.org/drawingml/2006/main">
            <a:off x="4286250" y="1685925"/>
            <a:ext cx="708660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85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3A779-989B-45A0-882C-5B7EAFCC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预算由程序核算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43B8B-E5C2-4426-A0BF-547F23E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模型给出建议，金额采用 Decimal 确定性计算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B8967-0002-42D4-950B-C852602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96FB4-E4A9-4652-99B9-C5A6DA53D01F}"/>
              </a:ext>
            </a:extLst>
          </p:cNvPr>
          <p:cNvGraphicFramePr/>
          <p:nvPr/>
        </p:nvGraphicFramePr>
        <p:xfrm>
          <a:off xmlns:a="http://schemas.openxmlformats.org/drawingml/2006/main" x="628650" y="1819275"/>
          <a:ext xmlns:a="http://schemas.openxmlformats.org/drawingml/2006/main" cx="5048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1762125"/>
              </a:tblGrid>
              <a:tr h="685800"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初始虚构算例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直接费用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1,900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预备金 10%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含预备金总额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2,090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距 3,000 元上限余量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910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FCE3A-875D-47AF-8407-2F041B6BD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a2193a7944c03"/>
          <a:stretch xmlns:a="http://schemas.openxmlformats.org/drawingml/2006/main"/>
        </p:blipFill>
        <p:spPr>
          <a:xfrm xmlns:a="http://schemas.openxmlformats.org/drawingml/2006/main">
            <a:off x="6029325" y="1818680"/>
            <a:ext cx="5534025" cy="34587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8DF28-52E8-4085-AA03-4F49CFD6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BD9F3"/>
                </a:solidFill>
                <a:latin typeface="PingFang SC"/>
                <a:ea typeface="PingFang SC"/>
                <a:cs typeface="PingFang SC"/>
              </a:rPr>
              <a:t>右图为另一组超支输入：总额 3,472 元，超支 472 元。</a:t>
            </a:r>
          </a:p>
        </p:txBody>
      </p:sp>
    </p:spTree>
    <p:extLst>
      <p:ext uri="{BB962C8B-B14F-4D97-AF65-F5344CB8AC3E}">
        <p14:creationId xmlns:p14="http://schemas.microsoft.com/office/powerpoint/2010/main" val="668080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2F506-0591-4489-BA32-9B40970B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模型接入与失败反馈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854FB-21AB-4767-BA46-A344E17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真实模型与无密钥规则模式始终可区分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FAAD1-CB6F-4D98-8CCA-F9F30CED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AB5CF-D5EF-417C-99EB-EA2D807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服务端持有配置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5D793-DED0-4395-991A-A4F75B2C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浏览器只读取模式与模型名，密钥不进入前端和导出文件。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ECCC4-386A-4D56-AA34-32A6B92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请求按任务组织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8B8DF-6733-4D2F-8BC4-AC489BC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资料与历史输出作为待分析数据，不能覆盖系统约束。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BA5A4-A719-453F-9B2E-697A490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失败向使用者可见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21FD9-EC1E-4702-A48C-806E7FF7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接口错误和超时返回错误，不能静默替换成规则成功。</a:t>
            </a:r>
          </a:p>
        </p:txBody>
      </p:sp>
    </p:spTree>
    <p:extLst>
      <p:ext uri="{BB962C8B-B14F-4D97-AF65-F5344CB8AC3E}">
        <p14:creationId xmlns:p14="http://schemas.microsoft.com/office/powerpoint/2010/main" val="576389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E9D29-BEEE-4895-B14E-FFEE9DB1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方案审阅与交接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74898-6446-49CB-92B1-51CD220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把缺失信息带回组织者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FBCDA-7174-4994-9FE2-0DD0082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D2EB2-383E-4DB2-952C-F9D817CF0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0d92f9d324020"/>
          <a:stretch xmlns:a="http://schemas.openxmlformats.org/drawingml/2006/main"/>
        </p:blipFill>
        <p:spPr>
          <a:xfrm xmlns:a="http://schemas.openxmlformats.org/drawingml/2006/main">
            <a:off x="5110405" y="1743075"/>
            <a:ext cx="6209814" cy="4352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30935-820A-4D5B-9794-D978C3A7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审阅问题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41029-7B6D-47DF-8321-3E7C75F4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核对资料、时间与执行缺口。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617FA-C56E-491C-B6CF-14B8F8DD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保留未知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61365-5DC2-43FC-954D-CE11154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报名入口、嘉宾与审批待确认。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09A32-2EEC-4CAA-917D-4ADDC1E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3762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导出交接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4152C-E1B4-4973-A03A-77124F78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Markdown方案、JSON数据与CSV任务清单。</a:t>
            </a:r>
          </a:p>
        </p:txBody>
      </p:sp>
    </p:spTree>
    <p:extLst>
      <p:ext uri="{BB962C8B-B14F-4D97-AF65-F5344CB8AC3E}">
        <p14:creationId xmlns:p14="http://schemas.microsoft.com/office/powerpoint/2010/main" val="18190435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FBF02-353E-4B9F-B89D-0A14EBA4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本轮功能验收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1EBBA-A00D-4056-BA62-2886DFA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接口行为与浏览器操作分开记录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D16E8-D4F4-4CBA-8273-9139081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B7452-CFF6-470C-A90F-07D68F0E439C}"/>
              </a:ext>
            </a:extLst>
          </p:cNvPr>
          <p:cNvGraphicFramePr/>
          <p:nvPr/>
        </p:nvGraphicFramePr>
        <p:xfrm>
          <a:off xmlns:a="http://schemas.openxmlformats.org/drawingml/2006/main" x="628650" y="1876425"/>
          <a:ext xmlns:a="http://schemas.openxmlformats.org/drawingml/2006/main" cx="109347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3286125"/>
                <a:gridCol w="5600700"/>
              </a:tblGrid>
              <a:tr h="769144"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本轮记录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</a:tr>
              <a:tr h="769144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65 / 65 项通过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临时数据库、模拟模型、本地 HTTP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769144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 / 13 项通过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实际操作、反馈、保存与下载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  <a:tr h="769144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种视口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页面布局、导航与可操作性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0C7E4-9ECB-46F4-9DDF-8C270B3A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BD9F3"/>
                </a:solidFill>
                <a:latin typeface="PingFang SC"/>
                <a:ea typeface="PingFang SC"/>
                <a:cs typeface="PingFang SC"/>
              </a:rPr>
              <a:t>功能通过不等于真实模型内容正确，也不证明生产环境可用。</a:t>
            </a:r>
          </a:p>
        </p:txBody>
      </p:sp>
    </p:spTree>
    <p:extLst>
      <p:ext uri="{BB962C8B-B14F-4D97-AF65-F5344CB8AC3E}">
        <p14:creationId xmlns:p14="http://schemas.microsoft.com/office/powerpoint/2010/main" val="1531458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8ED5A-59B1-415E-87B2-8B338C9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真实模型案例观察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706D2-2443-4A2A-BDFF-0EA3473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同一虚构活动，保留成功与失败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0AA37-1EA6-4A01-B722-EFC65914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DC629-2AE2-4808-8BA5-57BC009D3AB6}"/>
              </a:ext>
            </a:extLst>
          </p:cNvPr>
          <p:cNvGraphicFramePr/>
          <p:nvPr/>
        </p:nvGraphicFramePr>
        <p:xfrm>
          <a:off xmlns:a="http://schemas.openxmlformats.org/drawingml/2006/main" x="628650" y="1752600"/>
          <a:ext xmlns:a="http://schemas.openxmlformats.org/drawingml/2006/main" cx="109347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19950"/>
              </a:tblGrid>
              <a:tr h="706755"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案例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725" b="1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人工观察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T w="9525">
                      <a:solidFill>
                        <a:srgbClr val="2B3E5B"/>
                      </a:solidFill>
                      <a:prstDash val="solid"/>
                    </a:lnT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203D59"/>
                    </a:solidFill>
                  </a:tcPr>
                </a:tc>
              </a:tr>
              <a:tr h="70675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容量与报名入口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100人有原文依据，未编造报名链接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70675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进入与最晚离场时间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将签到和清场安排误推为开放边界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  <a:tr h="70675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日程提示修订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由重复策划转为日程表与时长检查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52544"/>
                    </a:solidFill>
                  </a:tcPr>
                </a:tc>
              </a:tr>
              <a:tr h="706755"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审阅提示修订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B3E5B"/>
                      </a:solidFill>
                      <a:prstDash val="solid"/>
                    </a:lnL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  <a:tc>
                  <a:txBody>
                    <a:bodyPr lIns="152400" tIns="114300" rIns="152400" bIns="114300"/>
                    <a:lstStyle/>
                    <a:p>
                      <a:r>
                        <a:rPr sz="1650" b="0">
                          <a:solidFill>
                            <a:srgbClr val="F4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发现跨草案时间差，也出现过度审查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B3E5B"/>
                      </a:solidFill>
                      <a:prstDash val="solid"/>
                    </a:lnR>
                    <a:lnB w="9525">
                      <a:solidFill>
                        <a:srgbClr val="2B3E5B"/>
                      </a:solidFill>
                      <a:prstDash val="solid"/>
                    </a:lnB>
                    <a:solidFill>
                      <a:srgbClr val="111D3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AF0C2-A344-4DFA-93A6-15766B4C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BBD9F3"/>
                </a:solidFill>
                <a:latin typeface="PingFang SC"/>
                <a:ea typeface="PingFang SC"/>
                <a:cs typeface="PingFang SC"/>
              </a:rPr>
              <a:t>12 个接口案例包含 1 个本地拦截，不作为模型准确率。</a:t>
            </a:r>
          </a:p>
        </p:txBody>
      </p:sp>
    </p:spTree>
    <p:extLst>
      <p:ext uri="{BB962C8B-B14F-4D97-AF65-F5344CB8AC3E}">
        <p14:creationId xmlns:p14="http://schemas.microsoft.com/office/powerpoint/2010/main" val="1206671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1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67D76-322B-4587-90C1-8CD66A3B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应用潜力与下一步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F0AE-08D3-4234-9139-78BBE655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先验证真实活动中的使用价值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A0E58-299F-41A2-BD9E-63E7489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411F1-AE2D-4387-B154-20EE710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可继续试用的流程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1AC95-D392-498D-8C92-37EDBE5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讲座、工作坊与小型分享活动的重复筹备和交接。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9CAA7-89B8-42E4-AA95-631D7F34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优先验证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CD41-AAB1-403A-A9BF-5B8B9E0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观察组织者的修改量、遗漏信息和最终交接是否清楚。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045A-7E67-4B4C-BEB3-6FE5E646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7FF"/>
                </a:solidFill>
                <a:latin typeface="PingFang SC"/>
                <a:ea typeface="PingFang SC"/>
                <a:cs typeface="PingFang SC"/>
              </a:rPr>
              <a:t>后续能力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12678-F16C-40D2-9AE1-04EC35A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8C4DF"/>
                </a:solidFill>
                <a:latin typeface="PingFang SC"/>
                <a:ea typeface="PingFang SC"/>
                <a:cs typeface="PingFang SC"/>
              </a:rPr>
              <a:t>资料版本、生成快照与协作权限，再评估语义检索的价值。</a:t>
            </a:r>
          </a:p>
        </p:txBody>
      </p:sp>
    </p:spTree>
    <p:extLst>
      <p:ext uri="{BB962C8B-B14F-4D97-AF65-F5344CB8AC3E}">
        <p14:creationId xmlns:p14="http://schemas.microsoft.com/office/powerpoint/2010/main" val="2039566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2026-10-23T21:52:13.6090000Z</dcterms:created>
  <dcterms:modified xsi:type="dcterms:W3CDTF">2026-10-23T21:52:13.6090000Z</dcterms:modified>
</coreProperties>
</file>